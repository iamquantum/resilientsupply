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4980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2A4A"/>
                </a:solidFill>
                <a:latin typeface="Aptos Display"/>
              </a:rPr>
              <a:t>ResilientChain AI</a:t>
            </a:r>
          </a:p>
          <a:p>
            <a:r>
              <a:rPr sz="2200">
                <a:solidFill>
                  <a:srgbClr val="2D6CB4"/>
                </a:solidFill>
                <a:latin typeface="Aptos"/>
              </a:rPr>
              <a:t>AI-Powered Resilient Supply Chain Management</a:t>
            </a:r>
          </a:p>
          <a:p>
            <a:r>
              <a:rPr sz="1500" b="1">
                <a:solidFill>
                  <a:srgbClr val="3F8B5C"/>
                </a:solidFill>
                <a:latin typeface="Aptos"/>
              </a:rPr>
              <a:t>Sense → Understand → Plan → Validate → Approve → Recover</a:t>
            </a:r>
          </a:p>
        </p:txBody>
      </p:sp>
      <p:sp>
        <p:nvSpPr>
          <p:cNvPr id="5" name="Oval 4"/>
          <p:cNvSpPr/>
          <p:nvPr/>
        </p:nvSpPr>
        <p:spPr>
          <a:xfrm>
            <a:off x="8549640" y="1234440"/>
            <a:ext cx="1051560" cy="1051560"/>
          </a:xfrm>
          <a:prstGeom prst="ellipse">
            <a:avLst/>
          </a:prstGeom>
          <a:solidFill>
            <a:srgbClr val="2D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DETECT</a:t>
            </a:r>
          </a:p>
        </p:txBody>
      </p:sp>
      <p:sp>
        <p:nvSpPr>
          <p:cNvPr id="6" name="Oval 5"/>
          <p:cNvSpPr/>
          <p:nvPr/>
        </p:nvSpPr>
        <p:spPr>
          <a:xfrm>
            <a:off x="9875519" y="1234440"/>
            <a:ext cx="1051560" cy="1051560"/>
          </a:xfrm>
          <a:prstGeom prst="ellipse">
            <a:avLst/>
          </a:prstGeom>
          <a:solidFill>
            <a:srgbClr val="2F9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7" name="Oval 6"/>
          <p:cNvSpPr/>
          <p:nvPr/>
        </p:nvSpPr>
        <p:spPr>
          <a:xfrm>
            <a:off x="8549640" y="2560320"/>
            <a:ext cx="1051560" cy="1051560"/>
          </a:xfrm>
          <a:prstGeom prst="ellipse">
            <a:avLst/>
          </a:prstGeom>
          <a:solidFill>
            <a:srgbClr val="D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OPTIMIZE</a:t>
            </a:r>
          </a:p>
        </p:txBody>
      </p:sp>
      <p:sp>
        <p:nvSpPr>
          <p:cNvPr id="8" name="Oval 7"/>
          <p:cNvSpPr/>
          <p:nvPr/>
        </p:nvSpPr>
        <p:spPr>
          <a:xfrm>
            <a:off x="9875519" y="2560320"/>
            <a:ext cx="1051560" cy="1051560"/>
          </a:xfrm>
          <a:prstGeom prst="ellipse">
            <a:avLst/>
          </a:prstGeom>
          <a:solidFill>
            <a:srgbClr val="3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9" name="Oval 8"/>
          <p:cNvSpPr/>
          <p:nvPr/>
        </p:nvSpPr>
        <p:spPr>
          <a:xfrm>
            <a:off x="8549640" y="3886200"/>
            <a:ext cx="1051560" cy="1051560"/>
          </a:xfrm>
          <a:prstGeom prst="ellipse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0" name="Oval 9"/>
          <p:cNvSpPr/>
          <p:nvPr/>
        </p:nvSpPr>
        <p:spPr>
          <a:xfrm>
            <a:off x="9875519" y="3886200"/>
            <a:ext cx="1051560" cy="1051560"/>
          </a:xfrm>
          <a:prstGeom prst="ellipse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166360"/>
            <a:ext cx="7680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8303A"/>
                </a:solidFill>
              </a:rPr>
              <a:t>A multi-agent system for detecting disruptions, evaluating business impact, generating recovery options, and keeping humans in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6665976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4A"/>
                </a:solidFill>
                <a:latin typeface="Aptos Display"/>
              </a:rPr>
              <a:t>Problem Statement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Supply-chain disruptions can cascade across inventory, transportation, cost, compliance and customer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4A"/>
                </a:solidFill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Unexpected route, warehouse or demand disruptions can delay critical shipments.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Teams need to understand affected inventory, delivery commitments, cost and risk quickly.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Recovery decisions may involve multiple alternatives and business constraints.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High-impact actions require governance, validation and human oversight.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3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4A"/>
                </a:solidFill>
              </a:rP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39112"/>
            <a:ext cx="49377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Detect a disruption and identify affected shipments and supply-chain entities.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Use specialized AI agents to analyze logistics, inventory and business impact.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Generate and compare recovery strategies using deterministic optimization.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Validate constraints, request human approval when required, and record the decision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4A"/>
                </a:solidFill>
                <a:latin typeface="Aptos Display"/>
              </a:rPr>
              <a:t>How ResilientChain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A coordinated multi-agent workflow converts a disruption into a validated recovery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1. Disruption
Route / warehouse / demand event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724912"/>
            <a:ext cx="228599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74519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2. Sensing &amp; Scenario
Detect + estimate impact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724912"/>
            <a:ext cx="22860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3. Logistics
Alternative routes &amp; transport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2724912"/>
            <a:ext cx="22860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4. Inventory
Stock &amp; reallocation options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724912"/>
            <a:ext cx="22860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5. Orchestrator
Compare recovery strategies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2724912"/>
            <a:ext cx="22860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26679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6. Compliance
Validate constraints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19" y="2724912"/>
            <a:ext cx="228601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8972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7. Human Approval
Approve / Reject / Modify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24160" y="2724912"/>
            <a:ext cx="228600" cy="0"/>
          </a:xfrm>
          <a:prstGeom prst="line">
            <a:avLst/>
          </a:prstGeom>
          <a:ln w="2286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52760" y="2011680"/>
            <a:ext cx="1234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A4A"/>
                </a:solidFill>
                <a:latin typeface="Aptos"/>
              </a:rPr>
              <a:t>8. Recovery + Audit
Simulate action + record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160520"/>
            <a:ext cx="10241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A4A"/>
                </a:solidFill>
              </a:rPr>
              <a:t>Governance Boundary:  AI Recommendation  →  Policy / Compliance Validation  →  Human Approval  →  Execution  → 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4A"/>
                </a:solidFill>
                <a:latin typeface="Aptos Display"/>
              </a:rPr>
              <a:t>Technology, Architecture &amp;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Enterprise-oriented architecture combining SAP technologies, agentic AI and deterministic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658368"/>
          </a:xfrm>
          <a:prstGeom prst="roundRect">
            <a:avLst/>
          </a:prstGeom>
          <a:solidFill>
            <a:srgbClr val="F4F7FA"/>
          </a:solidFill>
          <a:ln w="20320">
            <a:solidFill>
              <a:srgbClr val="2D6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4475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D6CB4"/>
                </a:solidFill>
              </a:rPr>
              <a:t>User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44752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8303A"/>
                </a:solidFill>
              </a:rPr>
              <a:t>SAPUI5 / SAP Fiori • Control Center • Disruption Monitor • Approval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10698480" cy="658368"/>
          </a:xfrm>
          <a:prstGeom prst="roundRect">
            <a:avLst/>
          </a:prstGeom>
          <a:solidFill>
            <a:srgbClr val="F4F7FA"/>
          </a:solidFill>
          <a:ln w="20320">
            <a:solidFill>
              <a:srgbClr val="2F9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9DAB"/>
                </a:solidFill>
              </a:rPr>
              <a:t>AI &amp;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8303A"/>
                </a:solidFill>
              </a:rPr>
              <a:t>Sensing • Scenario • Logistics • Inventory • Compliance • 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F4F7FA"/>
          </a:solidFill>
          <a:ln w="20320">
            <a:solidFill>
              <a:srgbClr val="3F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F8B5C"/>
                </a:solidFill>
              </a:rPr>
              <a:t>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27248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8303A"/>
                </a:solidFill>
              </a:rPr>
              <a:t>SAP CAP + Node.js • APIs • Workflow •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95344"/>
            <a:ext cx="10698480" cy="658368"/>
          </a:xfrm>
          <a:prstGeom prst="roundRect">
            <a:avLst/>
          </a:prstGeom>
          <a:solidFill>
            <a:srgbClr val="F4F7FA"/>
          </a:solidFill>
          <a:ln w="20320">
            <a:solidFill>
              <a:srgbClr val="DD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68496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D8B37"/>
                </a:solidFill>
              </a:rPr>
              <a:t>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68496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8303A"/>
                </a:solidFill>
              </a:rPr>
              <a:t>Python + OR-Tools • Cost • Delivery • Risk • Inventory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36592"/>
            <a:ext cx="10698480" cy="658368"/>
          </a:xfrm>
          <a:prstGeom prst="roundRect">
            <a:avLst/>
          </a:prstGeom>
          <a:solidFill>
            <a:srgbClr val="F4F7FA"/>
          </a:solidFill>
          <a:ln w="2032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9744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A4A"/>
                </a:solidFill>
              </a:rPr>
              <a:t>Data &amp;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09744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8303A"/>
                </a:solidFill>
              </a:rPr>
              <a:t>SAP HANA Cloud • SAP BTP • Optional SAP S/4HANA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A4A"/>
                </a:solidFill>
              </a:rPr>
              <a:t>Design principle: use normal code for deterministic calculations; use GenAI mainly for reasoning, interpretation and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4A"/>
                </a:solidFill>
                <a:latin typeface="Aptos Display"/>
              </a:rPr>
              <a:t>MVP, Expected Impact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9737D"/>
                </a:solidFill>
                <a:latin typeface="Aptos"/>
              </a:rPr>
              <a:t>Focus on one complete, reliable autonomous workflow rather than many unfinished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6576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2D6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4A"/>
                </a:solidFill>
              </a:rPr>
              <a:t>MVP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Disruption Simulator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Sensing &amp; Scenario Agent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Logistics + Inventory Agents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Recommendation / Optimization Engine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Human Approval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Recovery Simulation + Audit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4290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4526280"/>
          </a:xfrm>
          <a:prstGeom prst="rect">
            <a:avLst/>
          </a:prstGeom>
          <a:solidFill>
            <a:srgbClr val="3F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4A"/>
                </a:solidFill>
              </a:rPr>
              <a:t>Expected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Faster disruption response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Improved supply-chain visibility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Structured recovery alternatives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Better cost / delivery / risk trade-offs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Human-controlled critical decisions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Traceable decisions through audit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526280"/>
          </a:xfrm>
          <a:prstGeom prst="rect">
            <a:avLst/>
          </a:prstGeom>
          <a:solidFill>
            <a:srgbClr val="DD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A4A"/>
                </a:solidFill>
              </a:rPr>
              <a:t>Demo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1089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Start with healthy inventory and operational routes.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Trigger a critical route failure.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Detect affected shipments and stock-out risk.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Find alternative routes and emergency stock.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Compare recovery strategies.</a:t>
            </a:r>
          </a:p>
          <a:p>
            <a:pPr>
              <a:spcAft>
                <a:spcPts val="800"/>
              </a:spcAft>
              <a:defRPr sz="1250">
                <a:solidFill>
                  <a:srgbClr val="28303A"/>
                </a:solidFill>
                <a:latin typeface="Aptos"/>
              </a:defRPr>
            </a:pPr>
            <a:r>
              <a:t>Validate → approve → simulate recovery →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5989320"/>
            <a:ext cx="7772400" cy="438912"/>
          </a:xfrm>
          <a:prstGeom prst="round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Reliable Business Logic + Deterministic Optimization + Agentic AI + Human Governance + SAP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665976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